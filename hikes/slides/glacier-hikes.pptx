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hiking days in Glacier. Day 2 is the only one with a real choice to make, and the only one that depends on the shuttle.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2 is the one to plan around — it depends on shuttle timing.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Avalanche Lake — one trail · out &amp;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Highline Trail or Hidden Lake — two options · both start at logan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Grinnell Glacier &amp; Grinnell Lake — one trail system · turn around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 2 is the only one where the car is left behind. Everything there hangs on the last westbound shuttle from The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51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40" kern="0" dirty="0">
                <a:solidFill>
                  <a:srgbClr val="E257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GLACIER NATIONAL PARK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49808" y="1481328"/>
            <a:ext cx="76809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Days,</a:t>
            </a:r>
            <a:endParaRPr lang="en-US" sz="54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4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Trails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77240" y="37033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9A2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Avalanche Lake  ·  Highline Trail or Hidden Lake  ·  Grinnell Glacier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4617720"/>
            <a:ext cx="3246120" cy="1298448"/>
          </a:xfrm>
          <a:prstGeom prst="roundRect">
            <a:avLst>
              <a:gd name="adj" fmla="val 4225"/>
            </a:avLst>
          </a:prstGeom>
          <a:solidFill>
            <a:srgbClr val="2E2B27"/>
          </a:solidFill>
          <a:ln/>
        </p:spPr>
      </p:sp>
      <p:sp>
        <p:nvSpPr>
          <p:cNvPr id="6" name="Shape 4"/>
          <p:cNvSpPr/>
          <p:nvPr/>
        </p:nvSpPr>
        <p:spPr>
          <a:xfrm>
            <a:off x="1014984" y="4873752"/>
            <a:ext cx="310896" cy="310896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7" name="Text 5"/>
          <p:cNvSpPr/>
          <p:nvPr/>
        </p:nvSpPr>
        <p:spPr>
          <a:xfrm>
            <a:off x="1014984" y="4873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17320" y="48646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14984" y="523951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Avalanche Lake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407408" y="4617720"/>
            <a:ext cx="3246120" cy="1298448"/>
          </a:xfrm>
          <a:prstGeom prst="roundRect">
            <a:avLst>
              <a:gd name="adj" fmla="val 4225"/>
            </a:avLst>
          </a:prstGeom>
          <a:solidFill>
            <a:srgbClr val="2E2B27"/>
          </a:solidFill>
          <a:ln/>
        </p:spPr>
      </p:sp>
      <p:sp>
        <p:nvSpPr>
          <p:cNvPr id="11" name="Shape 9"/>
          <p:cNvSpPr/>
          <p:nvPr/>
        </p:nvSpPr>
        <p:spPr>
          <a:xfrm>
            <a:off x="4645152" y="4873752"/>
            <a:ext cx="310896" cy="310896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12" name="Text 10"/>
          <p:cNvSpPr/>
          <p:nvPr/>
        </p:nvSpPr>
        <p:spPr>
          <a:xfrm>
            <a:off x="4645152" y="4873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47488" y="48646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645152" y="523951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Highline Trail or Hidden Lake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37576" y="4617720"/>
            <a:ext cx="3246120" cy="1298448"/>
          </a:xfrm>
          <a:prstGeom prst="roundRect">
            <a:avLst>
              <a:gd name="adj" fmla="val 4225"/>
            </a:avLst>
          </a:prstGeom>
          <a:solidFill>
            <a:srgbClr val="2E2B27"/>
          </a:solidFill>
          <a:ln/>
        </p:spPr>
      </p:sp>
      <p:sp>
        <p:nvSpPr>
          <p:cNvPr id="16" name="Shape 14"/>
          <p:cNvSpPr/>
          <p:nvPr/>
        </p:nvSpPr>
        <p:spPr>
          <a:xfrm>
            <a:off x="8275320" y="4873752"/>
            <a:ext cx="310896" cy="310896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17" name="Text 15"/>
          <p:cNvSpPr/>
          <p:nvPr/>
        </p:nvSpPr>
        <p:spPr>
          <a:xfrm>
            <a:off x="8275320" y="4873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677656" y="48646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8275320" y="5239512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Grinnell Glacier &amp; Grinnell Lake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 days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66928" y="104241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Distances are round trip unless noted.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3511296" cy="4663440"/>
          </a:xfrm>
          <a:prstGeom prst="roundRect">
            <a:avLst>
              <a:gd name="adj" fmla="val 1302"/>
            </a:avLst>
          </a:prstGeom>
          <a:solidFill>
            <a:srgbClr val="E9E4D9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" y="1938528"/>
            <a:ext cx="365760" cy="365760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16736" y="1938528"/>
            <a:ext cx="250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41248" y="245059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Avalanche Lake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41248" y="298094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Lake McDonald Valley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41248" y="345643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 mi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231136" y="345643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757 ft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41248" y="38770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 hr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31136" y="3877056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&amp; back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1248" y="4425696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trail, one decision: stop at the foot of the lake or walk the shore to the head.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41248" y="5669280"/>
            <a:ext cx="237744" cy="237744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16" name="Text 14"/>
          <p:cNvSpPr/>
          <p:nvPr/>
        </p:nvSpPr>
        <p:spPr>
          <a:xfrm>
            <a:off x="841248" y="5669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70432" y="5632704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there, drive back.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425696" y="1627632"/>
            <a:ext cx="3511296" cy="4663440"/>
          </a:xfrm>
          <a:prstGeom prst="roundRect">
            <a:avLst>
              <a:gd name="adj" fmla="val 1302"/>
            </a:avLst>
          </a:prstGeom>
          <a:solidFill>
            <a:srgbClr val="E9E4D9"/>
          </a:solidFill>
          <a:ln/>
        </p:spPr>
      </p:sp>
      <p:sp>
        <p:nvSpPr>
          <p:cNvPr id="19" name="Shape 17"/>
          <p:cNvSpPr/>
          <p:nvPr/>
        </p:nvSpPr>
        <p:spPr>
          <a:xfrm>
            <a:off x="4718304" y="1938528"/>
            <a:ext cx="365760" cy="365760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20" name="Text 18"/>
          <p:cNvSpPr/>
          <p:nvPr/>
        </p:nvSpPr>
        <p:spPr>
          <a:xfrm>
            <a:off x="4718304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193792" y="1938528"/>
            <a:ext cx="250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18304" y="245059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Highline or Hidden Lake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718304" y="298094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Logan Pass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18304" y="345643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11.8 mi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108192" y="345643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18304" y="38770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2.7 mi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108192" y="3877056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trip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18304" y="4425696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Highline ends at The Loop, not where you started. The shuttle is what makes it possible.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718304" y="5669280"/>
            <a:ext cx="237744" cy="237744"/>
          </a:xfrm>
          <a:prstGeom prst="ellipse">
            <a:avLst/>
          </a:prstGeom>
          <a:solidFill>
            <a:srgbClr val="3D6EA5"/>
          </a:solidFill>
          <a:ln/>
        </p:spPr>
      </p:sp>
      <p:sp>
        <p:nvSpPr>
          <p:cNvPr id="30" name="Text 28"/>
          <p:cNvSpPr/>
          <p:nvPr/>
        </p:nvSpPr>
        <p:spPr>
          <a:xfrm>
            <a:off x="4718304" y="5669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047488" y="5632704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 and shuttle — no car.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302752" y="1627632"/>
            <a:ext cx="3511296" cy="4663440"/>
          </a:xfrm>
          <a:prstGeom prst="roundRect">
            <a:avLst>
              <a:gd name="adj" fmla="val 1302"/>
            </a:avLst>
          </a:prstGeom>
          <a:solidFill>
            <a:srgbClr val="E9E4D9"/>
          </a:solidFill>
          <a:ln/>
        </p:spPr>
      </p:sp>
      <p:sp>
        <p:nvSpPr>
          <p:cNvPr id="33" name="Shape 31"/>
          <p:cNvSpPr/>
          <p:nvPr/>
        </p:nvSpPr>
        <p:spPr>
          <a:xfrm>
            <a:off x="8595360" y="1938528"/>
            <a:ext cx="365760" cy="365760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34" name="Text 32"/>
          <p:cNvSpPr/>
          <p:nvPr/>
        </p:nvSpPr>
        <p:spPr>
          <a:xfrm>
            <a:off x="8595360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070848" y="1938528"/>
            <a:ext cx="2505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595360" y="245059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Grinnell Glacier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595360" y="298094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Many Glacier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95360" y="345643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11.0 mi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9985248" y="3456432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2,181 ft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595360" y="38770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 mi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9985248" y="3877056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boat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595360" y="4425696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 and back, so you can turn around at any viewpoint. Grinnell Lake adds a flat 1.8 mi.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8595360" y="5669280"/>
            <a:ext cx="237744" cy="237744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44" name="Text 42"/>
          <p:cNvSpPr/>
          <p:nvPr/>
        </p:nvSpPr>
        <p:spPr>
          <a:xfrm>
            <a:off x="8595360" y="566928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8924544" y="5632704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 there, drive back.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per-trail/hikes/slides/img/day1-avalanche-lake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548640"/>
            <a:ext cx="5818327" cy="5760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66928"/>
            <a:ext cx="384048" cy="384048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60704" y="56692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1  ·  LAKE MCDONALD VALLEY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1115568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Avalanche Lake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21214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257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TRAIL · OUT &amp; BACK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48640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548640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TRIP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2121408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757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ft</a:t>
            </a:r>
            <a:endParaRPr lang="en-US" sz="2500" dirty="0"/>
          </a:p>
        </p:txBody>
      </p:sp>
      <p:sp>
        <p:nvSpPr>
          <p:cNvPr id="11" name="Text 8"/>
          <p:cNvSpPr/>
          <p:nvPr/>
        </p:nvSpPr>
        <p:spPr>
          <a:xfrm>
            <a:off x="2121408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GAIN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3694176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3–4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hr</a:t>
            </a:r>
            <a:endParaRPr lang="en-US" sz="2500" dirty="0"/>
          </a:p>
        </p:txBody>
      </p:sp>
      <p:sp>
        <p:nvSpPr>
          <p:cNvPr id="13" name="Text 10"/>
          <p:cNvSpPr/>
          <p:nvPr/>
        </p:nvSpPr>
        <p:spPr>
          <a:xfrm>
            <a:off x="3694176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48640" y="332841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steady, forgiving climb beside Avalanche Gorge through old-growth cedar to a cirque lake with waterfalls pouring off the headwall.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42611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Stopping at the foot of the lake instead makes it 4.6 mi.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" y="507492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THERE &amp; BACK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66928" y="5394960"/>
            <a:ext cx="219456" cy="219456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53949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877824" y="5367528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Avalanche Creek on Going-to-the-Sun Road.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705856"/>
            <a:ext cx="219456" cy="219456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5705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77824" y="5678424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Hike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out and back — the car stays at the trailhead.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6016752"/>
            <a:ext cx="219456" cy="219456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24" name="Text 21"/>
          <p:cNvSpPr/>
          <p:nvPr/>
        </p:nvSpPr>
        <p:spPr>
          <a:xfrm>
            <a:off x="566928" y="60167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77824" y="5989320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back out the way you came.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per-trail/hikes/slides/img/day2-logan-pass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548640"/>
            <a:ext cx="5818327" cy="5760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66928"/>
            <a:ext cx="384048" cy="384048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60704" y="56692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  ·  LOGAN PASS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1115568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Highline Trail or Hidden Lake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21214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257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OPTIONS · BOTH START AT LOGAN PASS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48640" y="2505456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E257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48640" y="267919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Highline → The Loop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548640" y="301752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11.8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548640" y="33649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WAY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2029968" y="301752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2,300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ft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2029968" y="33649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3511296" y="301752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6–8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hr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3511296" y="336499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548640" y="365760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2E7D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48640" y="383133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Lake Overlook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548640" y="416966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548640" y="45171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TRIP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2029968" y="416966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550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ft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2029968" y="45171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GAIN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3511296" y="416966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1½–2</a:t>
            </a:r>
            <a:pPr indent="0" marL="0">
              <a:buNone/>
            </a:pPr>
            <a:r>
              <a:rPr lang="en-US" sz="874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hr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3511296" y="45171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48640" y="507492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THERE &amp; BACK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66928" y="5394960"/>
            <a:ext cx="219456" cy="219456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26" name="Text 23"/>
          <p:cNvSpPr/>
          <p:nvPr/>
        </p:nvSpPr>
        <p:spPr>
          <a:xfrm>
            <a:off x="566928" y="53949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877824" y="5367528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 at Apgar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car stays there all day.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66928" y="5705856"/>
            <a:ext cx="219456" cy="219456"/>
          </a:xfrm>
          <a:prstGeom prst="ellipse">
            <a:avLst/>
          </a:prstGeom>
          <a:solidFill>
            <a:srgbClr val="3D6EA5"/>
          </a:solidFill>
          <a:ln/>
        </p:spPr>
      </p:sp>
      <p:sp>
        <p:nvSpPr>
          <p:cNvPr id="29" name="Text 26"/>
          <p:cNvSpPr/>
          <p:nvPr/>
        </p:nvSpPr>
        <p:spPr>
          <a:xfrm>
            <a:off x="566928" y="5705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877824" y="5678424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 from Apgar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transferring at Avalanche Creek.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66928" y="6016752"/>
            <a:ext cx="219456" cy="219456"/>
          </a:xfrm>
          <a:prstGeom prst="ellipse">
            <a:avLst/>
          </a:prstGeom>
          <a:solidFill>
            <a:srgbClr val="3D6EA5"/>
          </a:solidFill>
          <a:ln/>
        </p:spPr>
      </p:sp>
      <p:sp>
        <p:nvSpPr>
          <p:cNvPr id="32" name="Text 29"/>
          <p:cNvSpPr/>
          <p:nvPr/>
        </p:nvSpPr>
        <p:spPr>
          <a:xfrm>
            <a:off x="566928" y="60167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877824" y="5989320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Shuttle to Logan Pass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both hikes start here.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566928" y="6327648"/>
            <a:ext cx="219456" cy="219456"/>
          </a:xfrm>
          <a:prstGeom prst="ellipse">
            <a:avLst/>
          </a:prstGeom>
          <a:solidFill>
            <a:srgbClr val="3D6EA5"/>
          </a:solidFill>
          <a:ln/>
        </p:spPr>
      </p:sp>
      <p:sp>
        <p:nvSpPr>
          <p:cNvPr id="35" name="Text 32"/>
          <p:cNvSpPr/>
          <p:nvPr/>
        </p:nvSpPr>
        <p:spPr>
          <a:xfrm>
            <a:off x="566928" y="632764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877824" y="6300216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Shuttle back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from The Loop (A) or Logan Pass (B).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per-trail/hikes/slides/img/day3-grinnell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548640"/>
            <a:ext cx="5818327" cy="57607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66928"/>
            <a:ext cx="384048" cy="384048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4" name="Text 1"/>
          <p:cNvSpPr/>
          <p:nvPr/>
        </p:nvSpPr>
        <p:spPr>
          <a:xfrm>
            <a:off x="548640" y="566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060704" y="566928"/>
            <a:ext cx="4425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3  ·  MANY GLACIER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48640" y="1115568"/>
            <a:ext cx="49377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00"/>
              </a:lnSpc>
              <a:buNone/>
            </a:pPr>
            <a:r>
              <a:rPr lang="en-US" sz="28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Grinnell Glacier &amp; Grinnell Lake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48640" y="21214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257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TRAIL SYSTEM · TURN AROUND ANY TIME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48640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11.0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</a:t>
            </a:r>
            <a:endParaRPr lang="en-US" sz="2500" dirty="0"/>
          </a:p>
        </p:txBody>
      </p:sp>
      <p:sp>
        <p:nvSpPr>
          <p:cNvPr id="9" name="Text 6"/>
          <p:cNvSpPr/>
          <p:nvPr/>
        </p:nvSpPr>
        <p:spPr>
          <a:xfrm>
            <a:off x="548640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FOOT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2121408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7.6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</a:t>
            </a:r>
            <a:endParaRPr lang="en-US" sz="2500" dirty="0"/>
          </a:p>
        </p:txBody>
      </p:sp>
      <p:sp>
        <p:nvSpPr>
          <p:cNvPr id="11" name="Text 8"/>
          <p:cNvSpPr/>
          <p:nvPr/>
        </p:nvSpPr>
        <p:spPr>
          <a:xfrm>
            <a:off x="2121408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BOAT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3694176" y="2505456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2,181</a:t>
            </a:r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ft</a:t>
            </a:r>
            <a:endParaRPr lang="en-US" sz="2500" dirty="0"/>
          </a:p>
        </p:txBody>
      </p:sp>
      <p:sp>
        <p:nvSpPr>
          <p:cNvPr id="13" name="Text 10"/>
          <p:cNvSpPr/>
          <p:nvPr/>
        </p:nvSpPr>
        <p:spPr>
          <a:xfrm>
            <a:off x="3694176" y="285292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spc="12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GAIN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48640" y="3328416"/>
            <a:ext cx="4937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Climbs the wall above Lake Josephine to Upper Grinnell Lake, right under the glacier. Every viewpoint on the way is a fine place to stop, and the flat Grinnell Lake spur bolts onto the end.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42611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Grinnell Lake spur adds 1.8 mi round trip, almost flat.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" y="5074920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THERE &amp; BACK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66928" y="5394960"/>
            <a:ext cx="219456" cy="219456"/>
          </a:xfrm>
          <a:prstGeom prst="ellipse">
            <a:avLst/>
          </a:prstGeom>
          <a:solidFill>
            <a:srgbClr val="6E7B52"/>
          </a:solidFill>
          <a:ln/>
        </p:spPr>
      </p:sp>
      <p:sp>
        <p:nvSpPr>
          <p:cNvPr id="18" name="Text 15"/>
          <p:cNvSpPr/>
          <p:nvPr/>
        </p:nvSpPr>
        <p:spPr>
          <a:xfrm>
            <a:off x="566928" y="539496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877824" y="5367528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Many Glacier and park by the hotel.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705856"/>
            <a:ext cx="219456" cy="219456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21" name="Text 18"/>
          <p:cNvSpPr/>
          <p:nvPr/>
        </p:nvSpPr>
        <p:spPr>
          <a:xfrm>
            <a:off x="566928" y="570585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77824" y="5678424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Hike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out and back as far as the group wants.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6016752"/>
            <a:ext cx="219456" cy="219456"/>
          </a:xfrm>
          <a:prstGeom prst="ellipse">
            <a:avLst/>
          </a:prstGeom>
          <a:solidFill>
            <a:srgbClr val="3D6EA5"/>
          </a:solidFill>
          <a:ln/>
        </p:spPr>
      </p:sp>
      <p:sp>
        <p:nvSpPr>
          <p:cNvPr id="24" name="Text 21"/>
          <p:cNvSpPr/>
          <p:nvPr/>
        </p:nvSpPr>
        <p:spPr>
          <a:xfrm>
            <a:off x="566928" y="601675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77824" y="5989320"/>
            <a:ext cx="46085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20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Boat</a:t>
            </a:r>
            <a:pPr indent="0" marL="0">
              <a:buNone/>
            </a:pPr>
            <a:r>
              <a:rPr lang="en-US" sz="1150" dirty="0">
                <a:solidFill>
                  <a:srgbClr val="6B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(optional) skips 1.7 mi each way — ticketed.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2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9144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get to each one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58368" y="118872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2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driving days and one that runs entirely on the park shuttle.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1426464"/>
          </a:xfrm>
          <a:prstGeom prst="roundRect">
            <a:avLst>
              <a:gd name="adj" fmla="val 3205"/>
            </a:avLst>
          </a:prstGeom>
          <a:solidFill>
            <a:srgbClr val="2E2B27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57400"/>
            <a:ext cx="347472" cy="347472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57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020824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Avalanche Lake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663440" y="2057400"/>
            <a:ext cx="640080" cy="347472"/>
          </a:xfrm>
          <a:prstGeom prst="roundRect">
            <a:avLst>
              <a:gd name="adj" fmla="val 50000"/>
            </a:avLst>
          </a:prstGeom>
          <a:solidFill>
            <a:srgbClr val="6E7B52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05740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03520" y="2057400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522976" y="2057400"/>
            <a:ext cx="1444752" cy="347472"/>
          </a:xfrm>
          <a:prstGeom prst="roundRect">
            <a:avLst>
              <a:gd name="adj" fmla="val 50000"/>
            </a:avLst>
          </a:prstGeom>
          <a:solidFill>
            <a:srgbClr val="E2574C"/>
          </a:solidFill>
          <a:ln/>
        </p:spPr>
      </p:sp>
      <p:sp>
        <p:nvSpPr>
          <p:cNvPr id="12" name="Text 10"/>
          <p:cNvSpPr/>
          <p:nvPr/>
        </p:nvSpPr>
        <p:spPr>
          <a:xfrm>
            <a:off x="5522976" y="2057400"/>
            <a:ext cx="1444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Hike out &amp; back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967728" y="2057400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187184" y="2057400"/>
            <a:ext cx="640080" cy="347472"/>
          </a:xfrm>
          <a:prstGeom prst="roundRect">
            <a:avLst>
              <a:gd name="adj" fmla="val 50000"/>
            </a:avLst>
          </a:prstGeom>
          <a:solidFill>
            <a:srgbClr val="6E7B52"/>
          </a:solidFill>
          <a:ln/>
        </p:spPr>
      </p:sp>
      <p:sp>
        <p:nvSpPr>
          <p:cNvPr id="15" name="Text 13"/>
          <p:cNvSpPr/>
          <p:nvPr/>
        </p:nvSpPr>
        <p:spPr>
          <a:xfrm>
            <a:off x="7187184" y="2057400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371600" y="2532888"/>
            <a:ext cx="99971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9A2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 sits at the Avalanche Creek lot. Arrive early — it fills before sunrise.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355848"/>
            <a:ext cx="10911535" cy="1426464"/>
          </a:xfrm>
          <a:prstGeom prst="roundRect">
            <a:avLst>
              <a:gd name="adj" fmla="val 3205"/>
            </a:avLst>
          </a:prstGeom>
          <a:solidFill>
            <a:srgbClr val="2E2B27"/>
          </a:solidFill>
          <a:ln/>
        </p:spPr>
      </p:sp>
      <p:sp>
        <p:nvSpPr>
          <p:cNvPr id="18" name="Shape 16"/>
          <p:cNvSpPr/>
          <p:nvPr/>
        </p:nvSpPr>
        <p:spPr>
          <a:xfrm>
            <a:off x="914400" y="3630168"/>
            <a:ext cx="347472" cy="347472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630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371600" y="3593592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Highline or Hidden Lake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663440" y="3630168"/>
            <a:ext cx="1283818" cy="347472"/>
          </a:xfrm>
          <a:prstGeom prst="roundRect">
            <a:avLst>
              <a:gd name="adj" fmla="val 50000"/>
            </a:avLst>
          </a:prstGeom>
          <a:solidFill>
            <a:srgbClr val="6E7B52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3630168"/>
            <a:ext cx="128381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 at Apgar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947258" y="3630168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66714" y="3630168"/>
            <a:ext cx="479146" cy="347472"/>
          </a:xfrm>
          <a:prstGeom prst="roundRect">
            <a:avLst>
              <a:gd name="adj" fmla="val 50000"/>
            </a:avLst>
          </a:prstGeom>
          <a:solidFill>
            <a:srgbClr val="3D6EA5"/>
          </a:solidFill>
          <a:ln/>
        </p:spPr>
      </p:sp>
      <p:sp>
        <p:nvSpPr>
          <p:cNvPr id="25" name="Text 23"/>
          <p:cNvSpPr/>
          <p:nvPr/>
        </p:nvSpPr>
        <p:spPr>
          <a:xfrm>
            <a:off x="6166714" y="3630168"/>
            <a:ext cx="47914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45859" y="3630168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865315" y="3630168"/>
            <a:ext cx="1927555" cy="347472"/>
          </a:xfrm>
          <a:prstGeom prst="roundRect">
            <a:avLst>
              <a:gd name="adj" fmla="val 50000"/>
            </a:avLst>
          </a:prstGeom>
          <a:solidFill>
            <a:srgbClr val="3D6EA5"/>
          </a:solidFill>
          <a:ln/>
        </p:spPr>
      </p:sp>
      <p:sp>
        <p:nvSpPr>
          <p:cNvPr id="28" name="Text 26"/>
          <p:cNvSpPr/>
          <p:nvPr/>
        </p:nvSpPr>
        <p:spPr>
          <a:xfrm>
            <a:off x="6865315" y="3630168"/>
            <a:ext cx="19275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Shuttle to Logan Pass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92870" y="3630168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9012326" y="3630168"/>
            <a:ext cx="559613" cy="347472"/>
          </a:xfrm>
          <a:prstGeom prst="roundRect">
            <a:avLst>
              <a:gd name="adj" fmla="val 50000"/>
            </a:avLst>
          </a:prstGeom>
          <a:solidFill>
            <a:srgbClr val="E2574C"/>
          </a:solidFill>
          <a:ln/>
        </p:spPr>
      </p:sp>
      <p:sp>
        <p:nvSpPr>
          <p:cNvPr id="31" name="Text 29"/>
          <p:cNvSpPr/>
          <p:nvPr/>
        </p:nvSpPr>
        <p:spPr>
          <a:xfrm>
            <a:off x="9012326" y="3630168"/>
            <a:ext cx="55961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Hike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571939" y="3630168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791395" y="3630168"/>
            <a:ext cx="1203350" cy="347472"/>
          </a:xfrm>
          <a:prstGeom prst="roundRect">
            <a:avLst>
              <a:gd name="adj" fmla="val 50000"/>
            </a:avLst>
          </a:prstGeom>
          <a:solidFill>
            <a:srgbClr val="3D6EA5"/>
          </a:solidFill>
          <a:ln/>
        </p:spPr>
      </p:sp>
      <p:sp>
        <p:nvSpPr>
          <p:cNvPr id="34" name="Text 32"/>
          <p:cNvSpPr/>
          <p:nvPr/>
        </p:nvSpPr>
        <p:spPr>
          <a:xfrm>
            <a:off x="9791395" y="3630168"/>
            <a:ext cx="120335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Shuttle back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371600" y="4105656"/>
            <a:ext cx="99971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9A2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 at Avalanche both directions. The Highline finishes at The Loop, so check the last westbound departure before starting.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0080" y="4928616"/>
            <a:ext cx="10911535" cy="1426464"/>
          </a:xfrm>
          <a:prstGeom prst="roundRect">
            <a:avLst>
              <a:gd name="adj" fmla="val 3205"/>
            </a:avLst>
          </a:prstGeom>
          <a:solidFill>
            <a:srgbClr val="2E2B27"/>
          </a:solidFill>
          <a:ln/>
        </p:spPr>
      </p:sp>
      <p:sp>
        <p:nvSpPr>
          <p:cNvPr id="37" name="Shape 35"/>
          <p:cNvSpPr/>
          <p:nvPr/>
        </p:nvSpPr>
        <p:spPr>
          <a:xfrm>
            <a:off x="914400" y="5202936"/>
            <a:ext cx="347472" cy="347472"/>
          </a:xfrm>
          <a:prstGeom prst="ellipse">
            <a:avLst/>
          </a:prstGeom>
          <a:solidFill>
            <a:srgbClr val="E2574C"/>
          </a:solidFill>
          <a:ln/>
        </p:spPr>
      </p:sp>
      <p:sp>
        <p:nvSpPr>
          <p:cNvPr id="38" name="Text 36"/>
          <p:cNvSpPr/>
          <p:nvPr/>
        </p:nvSpPr>
        <p:spPr>
          <a:xfrm>
            <a:off x="914400" y="52029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371600" y="5166360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F1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Grinnell Glacier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4663440" y="5202936"/>
            <a:ext cx="640080" cy="347472"/>
          </a:xfrm>
          <a:prstGeom prst="roundRect">
            <a:avLst>
              <a:gd name="adj" fmla="val 50000"/>
            </a:avLst>
          </a:prstGeom>
          <a:solidFill>
            <a:srgbClr val="6E7B52"/>
          </a:solidFill>
          <a:ln/>
        </p:spPr>
      </p:sp>
      <p:sp>
        <p:nvSpPr>
          <p:cNvPr id="41" name="Text 39"/>
          <p:cNvSpPr/>
          <p:nvPr/>
        </p:nvSpPr>
        <p:spPr>
          <a:xfrm>
            <a:off x="4663440" y="5202936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303520" y="5202936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522976" y="5202936"/>
            <a:ext cx="1444752" cy="347472"/>
          </a:xfrm>
          <a:prstGeom prst="roundRect">
            <a:avLst>
              <a:gd name="adj" fmla="val 50000"/>
            </a:avLst>
          </a:prstGeom>
          <a:solidFill>
            <a:srgbClr val="E2574C"/>
          </a:solidFill>
          <a:ln/>
        </p:spPr>
      </p:sp>
      <p:sp>
        <p:nvSpPr>
          <p:cNvPr id="44" name="Text 42"/>
          <p:cNvSpPr/>
          <p:nvPr/>
        </p:nvSpPr>
        <p:spPr>
          <a:xfrm>
            <a:off x="5522976" y="5202936"/>
            <a:ext cx="14447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Hike out &amp; back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967728" y="5202936"/>
            <a:ext cx="219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A94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7187184" y="5202936"/>
            <a:ext cx="640080" cy="347472"/>
          </a:xfrm>
          <a:prstGeom prst="roundRect">
            <a:avLst>
              <a:gd name="adj" fmla="val 50000"/>
            </a:avLst>
          </a:prstGeom>
          <a:solidFill>
            <a:srgbClr val="6E7B52"/>
          </a:solidFill>
          <a:ln/>
        </p:spPr>
      </p:sp>
      <p:sp>
        <p:nvSpPr>
          <p:cNvPr id="47" name="Text 45"/>
          <p:cNvSpPr/>
          <p:nvPr/>
        </p:nvSpPr>
        <p:spPr>
          <a:xfrm>
            <a:off x="7187184" y="5202936"/>
            <a:ext cx="640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371600" y="5678424"/>
            <a:ext cx="99971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A9A2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Optional ticketed boat across Swiftcurrent and Josephine skips 1.7 mi each way. Book ahead.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Glacier National Park — Three Days of Hiking</dc:title>
  <dc:subject>PptxGenJS Presentation</dc:subject>
  <dc:creator>Glacier trip planning</dc:creator>
  <cp:lastModifiedBy>Glacier trip planning</cp:lastModifiedBy>
  <cp:revision>1</cp:revision>
  <dcterms:created xsi:type="dcterms:W3CDTF">2026-08-24T10:35:32Z</dcterms:created>
  <dcterms:modified xsi:type="dcterms:W3CDTF">2026-08-24T10:35:32Z</dcterms:modified>
</cp:coreProperties>
</file>