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hiking days in Glacier. Day 2 splits into two groups and is the only day that depends on the shuttle.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is the one to plan around, because it depends on shuttle timing.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Avalanche Lake — one trail · out &amp;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Highline &amp; Hidden Lake — two groups · both start at logan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Grinnell Glacier &amp; Grinnell Lake — out &amp; back · turn around any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is the only day the car is left behind, and it depends on the last westbound shuttle from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40" kern="0" dirty="0">
                <a:solidFill>
                  <a:srgbClr val="E2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GLACIER NATIONAL PARK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1481328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5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Days,</a:t>
            </a:r>
            <a:endParaRPr lang="en-US" sz="54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5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Trails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77240" y="37033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A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Tuesday 25 to Thursday 27 August  ·  Avalanche Lake, Logan Pass, Many Glacier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4617720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2E2B27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" y="4873752"/>
            <a:ext cx="310896" cy="310896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7" name="Text 5"/>
          <p:cNvSpPr/>
          <p:nvPr/>
        </p:nvSpPr>
        <p:spPr>
          <a:xfrm>
            <a:off x="1014984" y="4873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7320" y="48646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14984" y="52395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Avalanche Lake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07408" y="4617720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2E2B27"/>
          </a:solidFill>
          <a:ln/>
        </p:spPr>
      </p:sp>
      <p:sp>
        <p:nvSpPr>
          <p:cNvPr id="11" name="Shape 9"/>
          <p:cNvSpPr/>
          <p:nvPr/>
        </p:nvSpPr>
        <p:spPr>
          <a:xfrm>
            <a:off x="4645152" y="4873752"/>
            <a:ext cx="310896" cy="310896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4873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47488" y="48646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45152" y="52395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Highline &amp; Hidden Lake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37576" y="4617720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2E2B27"/>
          </a:solidFill>
          <a:ln/>
        </p:spPr>
      </p:sp>
      <p:sp>
        <p:nvSpPr>
          <p:cNvPr id="16" name="Shape 14"/>
          <p:cNvSpPr/>
          <p:nvPr/>
        </p:nvSpPr>
        <p:spPr>
          <a:xfrm>
            <a:off x="8275320" y="4873752"/>
            <a:ext cx="310896" cy="310896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4873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77656" y="48646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75320" y="52395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Grinnell Glacier &amp; Grinnell Lake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days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10424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Distances are round trip unless noted.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511296" cy="4663440"/>
          </a:xfrm>
          <a:prstGeom prst="roundRect">
            <a:avLst>
              <a:gd name="adj" fmla="val 1302"/>
            </a:avLst>
          </a:prstGeom>
          <a:solidFill>
            <a:srgbClr val="E9E4D9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38528"/>
            <a:ext cx="365760" cy="365760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193852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41248" y="24505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Avalanche Lake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" y="298094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Tuesday 25 · Lake McDonald Valley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345643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 mi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31136" y="3456432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757 ft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38770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3–4 hr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31136" y="3877056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&amp; back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4425696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at the foot of the lake, or keep going along the shore to the head for another 0.65 mi each way.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41248" y="5669280"/>
            <a:ext cx="237744" cy="237744"/>
          </a:xfrm>
          <a:prstGeom prst="ellipse">
            <a:avLst/>
          </a:prstGeom>
          <a:solidFill>
            <a:srgbClr val="6E7B52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5669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70432" y="5632704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there and back.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25696" y="1627632"/>
            <a:ext cx="3511296" cy="4663440"/>
          </a:xfrm>
          <a:prstGeom prst="roundRect">
            <a:avLst>
              <a:gd name="adj" fmla="val 1302"/>
            </a:avLst>
          </a:prstGeom>
          <a:solidFill>
            <a:srgbClr val="E9E4D9"/>
          </a:solidFill>
          <a:ln/>
        </p:spPr>
      </p:sp>
      <p:sp>
        <p:nvSpPr>
          <p:cNvPr id="19" name="Shape 17"/>
          <p:cNvSpPr/>
          <p:nvPr/>
        </p:nvSpPr>
        <p:spPr>
          <a:xfrm>
            <a:off x="4718304" y="1938528"/>
            <a:ext cx="365760" cy="365760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20" name="Text 18"/>
          <p:cNvSpPr/>
          <p:nvPr/>
        </p:nvSpPr>
        <p:spPr>
          <a:xfrm>
            <a:off x="4718304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93792" y="193852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18304" y="24505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Highline &amp; Hidden Lake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18304" y="298094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Wednesday 26 · Logan Pass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18304" y="345643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 mi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08192" y="3456432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summit group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18304" y="38770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 mi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08192" y="3877056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lakes group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18304" y="4425696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summit group finishes at The Loop rather than back at Logan Pass, so the shuttle has to line up.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18304" y="5669280"/>
            <a:ext cx="237744" cy="237744"/>
          </a:xfrm>
          <a:prstGeom prst="ellipse">
            <a:avLst/>
          </a:prstGeom>
          <a:solidFill>
            <a:srgbClr val="3D6EA5"/>
          </a:solidFill>
          <a:ln/>
        </p:spPr>
      </p:sp>
      <p:sp>
        <p:nvSpPr>
          <p:cNvPr id="30" name="Text 28"/>
          <p:cNvSpPr/>
          <p:nvPr/>
        </p:nvSpPr>
        <p:spPr>
          <a:xfrm>
            <a:off x="4718304" y="5669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47488" y="5632704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 and shuttle, no car.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302752" y="1627632"/>
            <a:ext cx="3511296" cy="4663440"/>
          </a:xfrm>
          <a:prstGeom prst="roundRect">
            <a:avLst>
              <a:gd name="adj" fmla="val 1302"/>
            </a:avLst>
          </a:prstGeom>
          <a:solidFill>
            <a:srgbClr val="E9E4D9"/>
          </a:solidFill>
          <a:ln/>
        </p:spPr>
      </p:sp>
      <p:sp>
        <p:nvSpPr>
          <p:cNvPr id="33" name="Shape 31"/>
          <p:cNvSpPr/>
          <p:nvPr/>
        </p:nvSpPr>
        <p:spPr>
          <a:xfrm>
            <a:off x="8595360" y="1938528"/>
            <a:ext cx="365760" cy="365760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34" name="Text 32"/>
          <p:cNvSpPr/>
          <p:nvPr/>
        </p:nvSpPr>
        <p:spPr>
          <a:xfrm>
            <a:off x="8595360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070848" y="193852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595360" y="24505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Grinnell Glacier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595360" y="298094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Thursday 27 · Many Glacier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595360" y="345643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11.0 mi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985248" y="3456432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2,181 ft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595360" y="38770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 mi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985248" y="3877056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boat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595360" y="4425696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and back, so anyone can turn around at a viewpoint. Grinnell Lake adds a flat 1.8 mi.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595360" y="5669280"/>
            <a:ext cx="237744" cy="237744"/>
          </a:xfrm>
          <a:prstGeom prst="ellipse">
            <a:avLst/>
          </a:prstGeom>
          <a:solidFill>
            <a:srgbClr val="6E7B52"/>
          </a:solidFill>
          <a:ln/>
        </p:spPr>
      </p:sp>
      <p:sp>
        <p:nvSpPr>
          <p:cNvPr id="44" name="Text 42"/>
          <p:cNvSpPr/>
          <p:nvPr/>
        </p:nvSpPr>
        <p:spPr>
          <a:xfrm>
            <a:off x="8595360" y="5669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924544" y="5632704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there, drive back.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aper-trail/hikes/slides/img/day1-avalanche-lake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548640"/>
            <a:ext cx="5818327" cy="5760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66928"/>
            <a:ext cx="384048" cy="384048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60704" y="566928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 ·  TUE · AUG 25  ·  LAKE MCDONALD VALLEY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1115568"/>
            <a:ext cx="4937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280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Avalanche Lake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21214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E2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TRAIL · OUT &amp; BACK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250545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</a:t>
            </a:r>
            <a:pPr indent="0" marL="0">
              <a:buNone/>
            </a:pPr>
            <a:r>
              <a:rPr lang="en-US" sz="115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548640" y="28529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TRIP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121408" y="250545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757</a:t>
            </a:r>
            <a:pPr indent="0" marL="0">
              <a:buNone/>
            </a:pPr>
            <a:r>
              <a:rPr lang="en-US" sz="115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ft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2121408" y="28529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694176" y="250545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3–4</a:t>
            </a:r>
            <a:pPr indent="0" marL="0">
              <a:buNone/>
            </a:pPr>
            <a:r>
              <a:rPr lang="en-US" sz="115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hr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3694176" y="28529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48640" y="3328416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easy grade the whole way, up Avalanche Gorge through old cedar to a lake with waterfalls coming off the headwall behind it.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42611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Stopping at the foot of the lake makes it 4.6 mi.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507492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THERE &amp; BACK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66928" y="5394960"/>
            <a:ext cx="219456" cy="219456"/>
          </a:xfrm>
          <a:prstGeom prst="ellipse">
            <a:avLst/>
          </a:prstGeom>
          <a:solidFill>
            <a:srgbClr val="6E7B52"/>
          </a:solidFill>
          <a:ln/>
        </p:spPr>
      </p:sp>
      <p:sp>
        <p:nvSpPr>
          <p:cNvPr id="18" name="Text 15"/>
          <p:cNvSpPr/>
          <p:nvPr/>
        </p:nvSpPr>
        <p:spPr>
          <a:xfrm>
            <a:off x="566928" y="53949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77824" y="5367528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</a:t>
            </a:r>
            <a:pPr indent="0" marL="0">
              <a:buNone/>
            </a:pPr>
            <a:r>
              <a:rPr lang="en-US" sz="115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Avalanche Creek on Going-to-the-Sun Road.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" y="5705856"/>
            <a:ext cx="219456" cy="219456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21" name="Text 18"/>
          <p:cNvSpPr/>
          <p:nvPr/>
        </p:nvSpPr>
        <p:spPr>
          <a:xfrm>
            <a:off x="566928" y="57058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77824" y="5678424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Hike</a:t>
            </a:r>
            <a:pPr indent="0" marL="0">
              <a:buNone/>
            </a:pPr>
            <a:r>
              <a:rPr lang="en-US" sz="115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out and back. The car stays at the trailhead.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66928" y="6016752"/>
            <a:ext cx="219456" cy="219456"/>
          </a:xfrm>
          <a:prstGeom prst="ellipse">
            <a:avLst/>
          </a:prstGeom>
          <a:solidFill>
            <a:srgbClr val="6E7B52"/>
          </a:solidFill>
          <a:ln/>
        </p:spPr>
      </p:sp>
      <p:sp>
        <p:nvSpPr>
          <p:cNvPr id="24" name="Text 21"/>
          <p:cNvSpPr/>
          <p:nvPr/>
        </p:nvSpPr>
        <p:spPr>
          <a:xfrm>
            <a:off x="566928" y="60167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77824" y="5989320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</a:t>
            </a:r>
            <a:pPr indent="0" marL="0">
              <a:buNone/>
            </a:pPr>
            <a:r>
              <a:rPr lang="en-US" sz="115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back the way you came.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aper-trail/hikes/slides/img/day2-logan-pass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548640"/>
            <a:ext cx="5818327" cy="5760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66928"/>
            <a:ext cx="384048" cy="384048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60704" y="566928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 ·  WED · AUG 26  ·  LOGAN PASS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1115568"/>
            <a:ext cx="4937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280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Highline &amp; Hidden Lake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21214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E2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GROUPS · BOTH START AT LOGAN PASS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250545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E2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SUMMIT GROUP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26791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Highline → The Loop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48640" y="30175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</a:t>
            </a:r>
            <a:pPr indent="0" marL="0">
              <a:buNone/>
            </a:pPr>
            <a:r>
              <a:rPr lang="en-US" sz="874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548640" y="33649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WAY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2029968" y="30175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2,300</a:t>
            </a:r>
            <a:pPr indent="0" marL="0">
              <a:buNone/>
            </a:pPr>
            <a:r>
              <a:rPr lang="en-US" sz="874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ft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2029968" y="33649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511296" y="30175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</a:t>
            </a:r>
            <a:pPr indent="0" marL="0">
              <a:buNone/>
            </a:pPr>
            <a:r>
              <a:rPr lang="en-US" sz="874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hr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3511296" y="33649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48640" y="3657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2E7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LAKES GROUP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48640" y="38313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Lake Overlook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548640" y="416966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pPr indent="0" marL="0">
              <a:buNone/>
            </a:pPr>
            <a:r>
              <a:rPr lang="en-US" sz="874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548640" y="451713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TRIP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2029968" y="416966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550</a:t>
            </a:r>
            <a:pPr indent="0" marL="0">
              <a:buNone/>
            </a:pPr>
            <a:r>
              <a:rPr lang="en-US" sz="874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ft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2029968" y="451713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511296" y="416966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1½–2</a:t>
            </a:r>
            <a:pPr indent="0" marL="0">
              <a:buNone/>
            </a:pPr>
            <a:r>
              <a:rPr lang="en-US" sz="874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hr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3511296" y="451713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48640" y="507492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THERE &amp; BACK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66928" y="5394960"/>
            <a:ext cx="219456" cy="219456"/>
          </a:xfrm>
          <a:prstGeom prst="ellipse">
            <a:avLst/>
          </a:prstGeom>
          <a:solidFill>
            <a:srgbClr val="6E7B52"/>
          </a:solidFill>
          <a:ln/>
        </p:spPr>
      </p:sp>
      <p:sp>
        <p:nvSpPr>
          <p:cNvPr id="26" name="Text 23"/>
          <p:cNvSpPr/>
          <p:nvPr/>
        </p:nvSpPr>
        <p:spPr>
          <a:xfrm>
            <a:off x="566928" y="53949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877824" y="5367528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 at Apgar</a:t>
            </a:r>
            <a:pPr indent="0" marL="0">
              <a:buNone/>
            </a:pPr>
            <a:r>
              <a:rPr lang="en-US" sz="115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car stays there all day.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66928" y="5705856"/>
            <a:ext cx="219456" cy="219456"/>
          </a:xfrm>
          <a:prstGeom prst="ellipse">
            <a:avLst/>
          </a:prstGeom>
          <a:solidFill>
            <a:srgbClr val="3D6EA5"/>
          </a:solidFill>
          <a:ln/>
        </p:spPr>
      </p:sp>
      <p:sp>
        <p:nvSpPr>
          <p:cNvPr id="29" name="Text 26"/>
          <p:cNvSpPr/>
          <p:nvPr/>
        </p:nvSpPr>
        <p:spPr>
          <a:xfrm>
            <a:off x="566928" y="57058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877824" y="5678424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shuttle to Logan Pass</a:t>
            </a:r>
            <a:pPr indent="0" marL="0">
              <a:buNone/>
            </a:pPr>
            <a:r>
              <a:rPr lang="en-US" sz="115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direct, no stops on the way up.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66928" y="6016752"/>
            <a:ext cx="219456" cy="219456"/>
          </a:xfrm>
          <a:prstGeom prst="ellipse">
            <a:avLst/>
          </a:prstGeom>
          <a:solidFill>
            <a:srgbClr val="3D6EA5"/>
          </a:solidFill>
          <a:ln/>
        </p:spPr>
      </p:sp>
      <p:sp>
        <p:nvSpPr>
          <p:cNvPr id="32" name="Text 29"/>
          <p:cNvSpPr/>
          <p:nvPr/>
        </p:nvSpPr>
        <p:spPr>
          <a:xfrm>
            <a:off x="566928" y="60167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877824" y="5989320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groups get off there</a:t>
            </a:r>
            <a:pPr indent="0" marL="0">
              <a:buNone/>
            </a:pPr>
            <a:r>
              <a:rPr lang="en-US" sz="115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split at the visitor center.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566928" y="6327648"/>
            <a:ext cx="219456" cy="219456"/>
          </a:xfrm>
          <a:prstGeom prst="ellipse">
            <a:avLst/>
          </a:prstGeom>
          <a:solidFill>
            <a:srgbClr val="3D6EA5"/>
          </a:solidFill>
          <a:ln/>
        </p:spPr>
      </p:sp>
      <p:sp>
        <p:nvSpPr>
          <p:cNvPr id="35" name="Text 32"/>
          <p:cNvSpPr/>
          <p:nvPr/>
        </p:nvSpPr>
        <p:spPr>
          <a:xfrm>
            <a:off x="566928" y="63276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877824" y="6300216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Westbound shuttle back</a:t>
            </a:r>
            <a:pPr indent="0" marL="0">
              <a:buNone/>
            </a:pPr>
            <a:r>
              <a:rPr lang="en-US" sz="115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summit at The Loop (last bus 7:30 pm), lakes at Logan Pass.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aper-trail/hikes/slides/img/day3-grinnell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548640"/>
            <a:ext cx="5818327" cy="5760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66928"/>
            <a:ext cx="384048" cy="384048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60704" y="566928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 ·  THU · AUG 27  ·  MANY GLACIER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1115568"/>
            <a:ext cx="4937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280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Grinnell Glacier &amp; Grinnell Lake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21214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E2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&amp; BACK · TURN AROUND ANY TIME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250545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11.0</a:t>
            </a:r>
            <a:pPr indent="0" marL="0">
              <a:buNone/>
            </a:pPr>
            <a:r>
              <a:rPr lang="en-US" sz="115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548640" y="28529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FOOT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121408" y="250545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</a:t>
            </a:r>
            <a:pPr indent="0" marL="0">
              <a:buNone/>
            </a:pPr>
            <a:r>
              <a:rPr lang="en-US" sz="115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2121408" y="28529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BOAT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694176" y="250545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2,181</a:t>
            </a:r>
            <a:pPr indent="0" marL="0">
              <a:buNone/>
            </a:pPr>
            <a:r>
              <a:rPr lang="en-US" sz="115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ft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3694176" y="28529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48640" y="3328416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Climbs the wall above Lake Josephine and ends at Upper Grinnell Lake, below the glacier. Good views most of the way up, so anyone can stop early and head back.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42611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Grinnell Lake spur adds 1.8 mi round trip and is flat.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507492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THERE &amp; BACK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66928" y="5394960"/>
            <a:ext cx="219456" cy="219456"/>
          </a:xfrm>
          <a:prstGeom prst="ellipse">
            <a:avLst/>
          </a:prstGeom>
          <a:solidFill>
            <a:srgbClr val="6E7B52"/>
          </a:solidFill>
          <a:ln/>
        </p:spPr>
      </p:sp>
      <p:sp>
        <p:nvSpPr>
          <p:cNvPr id="18" name="Text 15"/>
          <p:cNvSpPr/>
          <p:nvPr/>
        </p:nvSpPr>
        <p:spPr>
          <a:xfrm>
            <a:off x="566928" y="53949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77824" y="5367528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</a:t>
            </a:r>
            <a:pPr indent="0" marL="0">
              <a:buNone/>
            </a:pPr>
            <a:r>
              <a:rPr lang="en-US" sz="115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Many Glacier and park by the hotel.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" y="5705856"/>
            <a:ext cx="219456" cy="219456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21" name="Text 18"/>
          <p:cNvSpPr/>
          <p:nvPr/>
        </p:nvSpPr>
        <p:spPr>
          <a:xfrm>
            <a:off x="566928" y="57058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77824" y="5678424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Hike</a:t>
            </a:r>
            <a:pPr indent="0" marL="0">
              <a:buNone/>
            </a:pPr>
            <a:r>
              <a:rPr lang="en-US" sz="115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out and back as far as the group wants.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66928" y="6016752"/>
            <a:ext cx="219456" cy="219456"/>
          </a:xfrm>
          <a:prstGeom prst="ellipse">
            <a:avLst/>
          </a:prstGeom>
          <a:solidFill>
            <a:srgbClr val="3D6EA5"/>
          </a:solidFill>
          <a:ln/>
        </p:spPr>
      </p:sp>
      <p:sp>
        <p:nvSpPr>
          <p:cNvPr id="24" name="Text 21"/>
          <p:cNvSpPr/>
          <p:nvPr/>
        </p:nvSpPr>
        <p:spPr>
          <a:xfrm>
            <a:off x="566928" y="60167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77824" y="5989320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0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Boat</a:t>
            </a:r>
            <a:pPr indent="0" marL="0">
              <a:buNone/>
            </a:pPr>
            <a:r>
              <a:rPr lang="en-US" sz="115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(optional) saves 1.7 mi each way.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22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9144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get to each one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58368" y="11887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driving days and one that runs entirely on the park shuttle.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1426464"/>
          </a:xfrm>
          <a:prstGeom prst="roundRect">
            <a:avLst>
              <a:gd name="adj" fmla="val 3205"/>
            </a:avLst>
          </a:prstGeom>
          <a:solidFill>
            <a:srgbClr val="2E2B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57400"/>
            <a:ext cx="347472" cy="347472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20208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Avalanche Lake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2057400"/>
            <a:ext cx="640080" cy="347472"/>
          </a:xfrm>
          <a:prstGeom prst="roundRect">
            <a:avLst>
              <a:gd name="adj" fmla="val 50000"/>
            </a:avLst>
          </a:prstGeom>
          <a:solidFill>
            <a:srgbClr val="6E7B52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0574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0" y="2057400"/>
            <a:ext cx="219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22976" y="2057400"/>
            <a:ext cx="1444752" cy="347472"/>
          </a:xfrm>
          <a:prstGeom prst="roundRect">
            <a:avLst>
              <a:gd name="adj" fmla="val 50000"/>
            </a:avLst>
          </a:prstGeom>
          <a:solidFill>
            <a:srgbClr val="E2574C"/>
          </a:solidFill>
          <a:ln/>
        </p:spPr>
      </p:sp>
      <p:sp>
        <p:nvSpPr>
          <p:cNvPr id="12" name="Text 10"/>
          <p:cNvSpPr/>
          <p:nvPr/>
        </p:nvSpPr>
        <p:spPr>
          <a:xfrm>
            <a:off x="5522976" y="2057400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Hike out &amp; back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67728" y="2057400"/>
            <a:ext cx="219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87184" y="2057400"/>
            <a:ext cx="640080" cy="347472"/>
          </a:xfrm>
          <a:prstGeom prst="roundRect">
            <a:avLst>
              <a:gd name="adj" fmla="val 50000"/>
            </a:avLst>
          </a:prstGeom>
          <a:solidFill>
            <a:srgbClr val="6E7B52"/>
          </a:solidFill>
          <a:ln/>
        </p:spPr>
      </p:sp>
      <p:sp>
        <p:nvSpPr>
          <p:cNvPr id="15" name="Text 13"/>
          <p:cNvSpPr/>
          <p:nvPr/>
        </p:nvSpPr>
        <p:spPr>
          <a:xfrm>
            <a:off x="7187184" y="20574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2532888"/>
            <a:ext cx="99971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9A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 sits at the Avalanche Creek lot all day. Nothing to catch and nothing to book.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355848"/>
            <a:ext cx="10911535" cy="1426464"/>
          </a:xfrm>
          <a:prstGeom prst="roundRect">
            <a:avLst>
              <a:gd name="adj" fmla="val 3205"/>
            </a:avLst>
          </a:prstGeom>
          <a:solidFill>
            <a:srgbClr val="2E2B27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3630168"/>
            <a:ext cx="347472" cy="347472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630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359359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Highline &amp; Hidden Lake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63440" y="3630168"/>
            <a:ext cx="1283818" cy="347472"/>
          </a:xfrm>
          <a:prstGeom prst="roundRect">
            <a:avLst>
              <a:gd name="adj" fmla="val 50000"/>
            </a:avLst>
          </a:prstGeom>
          <a:solidFill>
            <a:srgbClr val="6E7B52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3630168"/>
            <a:ext cx="12838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 at Apgar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7258" y="3630168"/>
            <a:ext cx="219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66714" y="3630168"/>
            <a:ext cx="2571293" cy="347472"/>
          </a:xfrm>
          <a:prstGeom prst="roundRect">
            <a:avLst>
              <a:gd name="adj" fmla="val 50000"/>
            </a:avLst>
          </a:prstGeom>
          <a:solidFill>
            <a:srgbClr val="3D6EA5"/>
          </a:solidFill>
          <a:ln/>
        </p:spPr>
      </p:sp>
      <p:sp>
        <p:nvSpPr>
          <p:cNvPr id="25" name="Text 23"/>
          <p:cNvSpPr/>
          <p:nvPr/>
        </p:nvSpPr>
        <p:spPr>
          <a:xfrm>
            <a:off x="6166714" y="3630168"/>
            <a:ext cx="25712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shuttle to Logan Pass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738006" y="3630168"/>
            <a:ext cx="219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957462" y="3630168"/>
            <a:ext cx="559613" cy="347472"/>
          </a:xfrm>
          <a:prstGeom prst="roundRect">
            <a:avLst>
              <a:gd name="adj" fmla="val 50000"/>
            </a:avLst>
          </a:prstGeom>
          <a:solidFill>
            <a:srgbClr val="E2574C"/>
          </a:solidFill>
          <a:ln/>
        </p:spPr>
      </p:sp>
      <p:sp>
        <p:nvSpPr>
          <p:cNvPr id="28" name="Text 26"/>
          <p:cNvSpPr/>
          <p:nvPr/>
        </p:nvSpPr>
        <p:spPr>
          <a:xfrm>
            <a:off x="8957462" y="3630168"/>
            <a:ext cx="55961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Hike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517075" y="3630168"/>
            <a:ext cx="219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736531" y="3630168"/>
            <a:ext cx="1203350" cy="347472"/>
          </a:xfrm>
          <a:prstGeom prst="roundRect">
            <a:avLst>
              <a:gd name="adj" fmla="val 50000"/>
            </a:avLst>
          </a:prstGeom>
          <a:solidFill>
            <a:srgbClr val="3D6EA5"/>
          </a:solidFill>
          <a:ln/>
        </p:spPr>
      </p:sp>
      <p:sp>
        <p:nvSpPr>
          <p:cNvPr id="31" name="Text 29"/>
          <p:cNvSpPr/>
          <p:nvPr/>
        </p:nvSpPr>
        <p:spPr>
          <a:xfrm>
            <a:off x="9736531" y="3630168"/>
            <a:ext cx="12033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Shuttle back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371600" y="4105656"/>
            <a:ext cx="99971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9A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Apgar shuttle runs express to Logan Pass, no stops on the way up. We should be long gone by then, but the last bus out of The Loop is 7:30 pm and the summit group has to be down before it goes.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4928616"/>
            <a:ext cx="10911535" cy="1426464"/>
          </a:xfrm>
          <a:prstGeom prst="roundRect">
            <a:avLst>
              <a:gd name="adj" fmla="val 3205"/>
            </a:avLst>
          </a:prstGeom>
          <a:solidFill>
            <a:srgbClr val="2E2B27"/>
          </a:solidFill>
          <a:ln/>
        </p:spPr>
      </p:sp>
      <p:sp>
        <p:nvSpPr>
          <p:cNvPr id="34" name="Shape 32"/>
          <p:cNvSpPr/>
          <p:nvPr/>
        </p:nvSpPr>
        <p:spPr>
          <a:xfrm>
            <a:off x="914400" y="5202936"/>
            <a:ext cx="347472" cy="347472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5202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371600" y="516636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Grinnell Glacier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663440" y="5202936"/>
            <a:ext cx="640080" cy="347472"/>
          </a:xfrm>
          <a:prstGeom prst="roundRect">
            <a:avLst>
              <a:gd name="adj" fmla="val 50000"/>
            </a:avLst>
          </a:prstGeom>
          <a:solidFill>
            <a:srgbClr val="6E7B52"/>
          </a:solidFill>
          <a:ln/>
        </p:spPr>
      </p:sp>
      <p:sp>
        <p:nvSpPr>
          <p:cNvPr id="38" name="Text 36"/>
          <p:cNvSpPr/>
          <p:nvPr/>
        </p:nvSpPr>
        <p:spPr>
          <a:xfrm>
            <a:off x="4663440" y="520293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03520" y="5202936"/>
            <a:ext cx="219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522976" y="5202936"/>
            <a:ext cx="1444752" cy="347472"/>
          </a:xfrm>
          <a:prstGeom prst="roundRect">
            <a:avLst>
              <a:gd name="adj" fmla="val 50000"/>
            </a:avLst>
          </a:prstGeom>
          <a:solidFill>
            <a:srgbClr val="E2574C"/>
          </a:solidFill>
          <a:ln/>
        </p:spPr>
      </p:sp>
      <p:sp>
        <p:nvSpPr>
          <p:cNvPr id="41" name="Text 39"/>
          <p:cNvSpPr/>
          <p:nvPr/>
        </p:nvSpPr>
        <p:spPr>
          <a:xfrm>
            <a:off x="5522976" y="5202936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Hike out &amp; back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67728" y="5202936"/>
            <a:ext cx="219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187184" y="5202936"/>
            <a:ext cx="640080" cy="347472"/>
          </a:xfrm>
          <a:prstGeom prst="roundRect">
            <a:avLst>
              <a:gd name="adj" fmla="val 50000"/>
            </a:avLst>
          </a:prstGeom>
          <a:solidFill>
            <a:srgbClr val="6E7B52"/>
          </a:solidFill>
          <a:ln/>
        </p:spPr>
      </p:sp>
      <p:sp>
        <p:nvSpPr>
          <p:cNvPr id="44" name="Text 42"/>
          <p:cNvSpPr/>
          <p:nvPr/>
        </p:nvSpPr>
        <p:spPr>
          <a:xfrm>
            <a:off x="7187184" y="520293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371600" y="5678424"/>
            <a:ext cx="99971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9A2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optional boat across Swiftcurrent and Josephine saves 1.7 mi each way, in either direction or both.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Glacier National Park — Three Days of Hiking</dc:title>
  <dc:subject>PptxGenJS Presentation</dc:subject>
  <dc:creator>Glacier trip planning</dc:creator>
  <cp:lastModifiedBy>Glacier trip planning</cp:lastModifiedBy>
  <cp:revision>1</cp:revision>
  <dcterms:created xsi:type="dcterms:W3CDTF">2026-08-24T16:38:28Z</dcterms:created>
  <dcterms:modified xsi:type="dcterms:W3CDTF">2026-08-24T16:38:28Z</dcterms:modified>
</cp:coreProperties>
</file>